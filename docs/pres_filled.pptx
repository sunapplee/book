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5.xml" ContentType="application/vnd.openxmlformats-officedocument.theme+xml"/>
  <Override PartName="/ppt/slideLayouts/slideLayout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6" r:id="rId1"/>
    <p:sldMasterId id="2147483769" r:id="rId2"/>
    <p:sldMasterId id="2147483772" r:id="rId3"/>
    <p:sldMasterId id="2147483794" r:id="rId4"/>
    <p:sldMasterId id="2147483803" r:id="rId5"/>
    <p:sldMasterId id="2147483811" r:id="rId6"/>
    <p:sldMasterId id="2147483780" r:id="rId7"/>
  </p:sldMasterIdLst>
  <p:notesMasterIdLst>
    <p:notesMasterId r:id="rId21"/>
  </p:notesMasterIdLst>
  <p:handoutMasterIdLst>
    <p:handoutMasterId r:id="rId22"/>
  </p:handoutMasterIdLst>
  <p:sldIdLst>
    <p:sldId id="264" r:id="rId8"/>
    <p:sldId id="273" r:id="rId9"/>
    <p:sldId id="278" r:id="rId10"/>
    <p:sldId id="279" r:id="rId11"/>
    <p:sldId id="280" r:id="rId12"/>
    <p:sldId id="283" r:id="rId13"/>
    <p:sldId id="285" r:id="rId14"/>
    <p:sldId id="284" r:id="rId15"/>
    <p:sldId id="282" r:id="rId16"/>
    <p:sldId id="286" r:id="rId17"/>
    <p:sldId id="288" r:id="rId18"/>
    <p:sldId id="281" r:id="rId19"/>
    <p:sldId id="287" r:id="rId20"/>
  </p:sldIdLst>
  <p:sldSz cx="9144000" cy="514826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orient="horz" pos="3028" userDrawn="1">
          <p15:clr>
            <a:srgbClr val="A4A3A4"/>
          </p15:clr>
        </p15:guide>
        <p15:guide id="4" pos="5511" userDrawn="1">
          <p15:clr>
            <a:srgbClr val="A4A3A4"/>
          </p15:clr>
        </p15:guide>
        <p15:guide id="5" orient="horz" pos="272">
          <p15:clr>
            <a:srgbClr val="A4A3A4"/>
          </p15:clr>
        </p15:guide>
        <p15:guide id="6" orient="horz" pos="2971">
          <p15:clr>
            <a:srgbClr val="A4A3A4"/>
          </p15:clr>
        </p15:guide>
        <p15:guide id="7" orient="horz" pos="930">
          <p15:clr>
            <a:srgbClr val="A4A3A4"/>
          </p15:clr>
        </p15:guide>
        <p15:guide id="8" orient="horz" pos="1337">
          <p15:clr>
            <a:srgbClr val="A4A3A4"/>
          </p15:clr>
        </p15:guide>
        <p15:guide id="9" orient="horz" pos="2086">
          <p15:clr>
            <a:srgbClr val="A4A3A4"/>
          </p15:clr>
        </p15:guide>
        <p15:guide id="10" pos="2331">
          <p15:clr>
            <a:srgbClr val="A4A3A4"/>
          </p15:clr>
        </p15:guide>
        <p15:guide id="11" pos="726">
          <p15:clr>
            <a:srgbClr val="A4A3A4"/>
          </p15:clr>
        </p15:guide>
        <p15:guide id="12" pos="875">
          <p15:clr>
            <a:srgbClr val="A4A3A4"/>
          </p15:clr>
        </p15:guide>
        <p15:guide id="13" pos="1260">
          <p15:clr>
            <a:srgbClr val="A4A3A4"/>
          </p15:clr>
        </p15:guide>
        <p15:guide id="14" pos="1410">
          <p15:clr>
            <a:srgbClr val="A4A3A4"/>
          </p15:clr>
        </p15:guide>
        <p15:guide id="15" pos="1796">
          <p15:clr>
            <a:srgbClr val="A4A3A4"/>
          </p15:clr>
        </p15:guide>
        <p15:guide id="16" pos="1944">
          <p15:clr>
            <a:srgbClr val="A4A3A4"/>
          </p15:clr>
        </p15:guide>
        <p15:guide id="17" pos="2481">
          <p15:clr>
            <a:srgbClr val="A4A3A4"/>
          </p15:clr>
        </p15:guide>
        <p15:guide id="18" pos="2869">
          <p15:clr>
            <a:srgbClr val="A4A3A4"/>
          </p15:clr>
        </p15:guide>
        <p15:guide id="19" pos="3029">
          <p15:clr>
            <a:srgbClr val="A4A3A4"/>
          </p15:clr>
        </p15:guide>
        <p15:guide id="20" pos="3402">
          <p15:clr>
            <a:srgbClr val="A4A3A4"/>
          </p15:clr>
        </p15:guide>
        <p15:guide id="21" pos="3552">
          <p15:clr>
            <a:srgbClr val="A4A3A4"/>
          </p15:clr>
        </p15:guide>
        <p15:guide id="22" pos="3938">
          <p15:clr>
            <a:srgbClr val="A4A3A4"/>
          </p15:clr>
        </p15:guide>
        <p15:guide id="23" pos="4086">
          <p15:clr>
            <a:srgbClr val="A4A3A4"/>
          </p15:clr>
        </p15:guide>
        <p15:guide id="24" pos="4473">
          <p15:clr>
            <a:srgbClr val="A4A3A4"/>
          </p15:clr>
        </p15:guide>
        <p15:guide id="25" pos="4621">
          <p15:clr>
            <a:srgbClr val="A4A3A4"/>
          </p15:clr>
        </p15:guide>
        <p15:guide id="26" pos="5008">
          <p15:clr>
            <a:srgbClr val="A4A3A4"/>
          </p15:clr>
        </p15:guide>
        <p15:guide id="27" pos="5157">
          <p15:clr>
            <a:srgbClr val="A4A3A4"/>
          </p15:clr>
        </p15:guide>
        <p15:guide id="28" pos="57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333333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577" autoAdjust="0"/>
    <p:restoredTop sz="86419" autoAdjust="0"/>
  </p:normalViewPr>
  <p:slideViewPr>
    <p:cSldViewPr snapToGrid="0">
      <p:cViewPr>
        <p:scale>
          <a:sx n="125" d="100"/>
          <a:sy n="125" d="100"/>
        </p:scale>
        <p:origin x="792" y="516"/>
      </p:cViewPr>
      <p:guideLst>
        <p:guide orient="horz" pos="261"/>
        <p:guide pos="340"/>
        <p:guide orient="horz" pos="3028"/>
        <p:guide pos="5511"/>
        <p:guide orient="horz" pos="272"/>
        <p:guide orient="horz" pos="2971"/>
        <p:guide orient="horz" pos="930"/>
        <p:guide orient="horz" pos="1337"/>
        <p:guide orient="horz" pos="2086"/>
        <p:guide pos="2331"/>
        <p:guide pos="726"/>
        <p:guide pos="875"/>
        <p:guide pos="1260"/>
        <p:guide pos="1410"/>
        <p:guide pos="1796"/>
        <p:guide pos="1944"/>
        <p:guide pos="2481"/>
        <p:guide pos="2869"/>
        <p:guide pos="3029"/>
        <p:guide pos="3402"/>
        <p:guide pos="3552"/>
        <p:guide pos="3938"/>
        <p:guide pos="4086"/>
        <p:guide pos="4473"/>
        <p:guide pos="4621"/>
        <p:guide pos="5008"/>
        <p:guide pos="5157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172" d="100"/>
          <a:sy n="172" d="100"/>
        </p:scale>
        <p:origin x="6552" y="208"/>
      </p:cViewPr>
      <p:guideLst>
        <p:guide orient="horz" pos="2880"/>
        <p:guide pos="2160"/>
      </p:guideLst>
    </p:cSldViewPr>
  </p:notesViewPr>
  <p:gridSpacing cx="1080136" cy="108013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6DCCD-FB14-4FA8-B1C2-D065E82645DF}" type="datetimeFigureOut">
              <a:rPr lang="ru-RU" smtClean="0"/>
              <a:pPr/>
              <a:t>25.03.2026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D96E1-DF61-4A53-9932-3DFD8899BB9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0548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084D8A-822D-488E-8D1C-8C90CBE022BE}" type="datetimeFigureOut">
              <a:rPr lang="ru-RU" smtClean="0"/>
              <a:pPr/>
              <a:t>25.03.2026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70B7F-3432-4DBE-B821-B38A127FB2D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20220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39749" y="2122487"/>
            <a:ext cx="5711825" cy="1189037"/>
          </a:xfrm>
          <a:prstGeom prst="rect">
            <a:avLst/>
          </a:prstGeom>
        </p:spPr>
        <p:txBody>
          <a:bodyPr lIns="0" tIns="0" rIns="0" bIns="0"/>
          <a:lstStyle>
            <a:lvl1pPr>
              <a:defRPr sz="2700" b="1">
                <a:solidFill>
                  <a:srgbClr val="404040"/>
                </a:solidFill>
                <a:latin typeface="+mn-lt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7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/>
              </a:rPr>
              <a:t>Тема презентации</a:t>
            </a:r>
            <a:endParaRPr kumimoji="0" lang="en-US" sz="27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9749" y="3798267"/>
            <a:ext cx="5711825" cy="2846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ru-RU" dirty="0">
                <a:latin typeface="Arial" pitchFamily="34" charset="0"/>
                <a:cs typeface="Arial" pitchFamily="34" charset="0"/>
              </a:rPr>
              <a:t>Наименование мероприятия </a:t>
            </a:r>
            <a:r>
              <a:rPr lang="en-US" dirty="0">
                <a:latin typeface="Arial" pitchFamily="34" charset="0"/>
                <a:cs typeface="Arial" pitchFamily="34" charset="0"/>
              </a:rPr>
              <a:t>/</a:t>
            </a:r>
            <a:r>
              <a:rPr lang="ru-RU" dirty="0">
                <a:latin typeface="Arial" pitchFamily="34" charset="0"/>
                <a:cs typeface="Arial" pitchFamily="34" charset="0"/>
              </a:rPr>
              <a:t> название площадки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39749" y="4212000"/>
            <a:ext cx="5711825" cy="21848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srgbClr val="333333"/>
                </a:solidFill>
                <a:latin typeface="Arial" panose="020B0604020202020204" pitchFamily="34" charset="0"/>
                <a:ea typeface="Rosatom Light" pitchFamily="34" charset="-52"/>
                <a:cs typeface="Arial" pitchFamily="34" charset="0"/>
              </a:rPr>
              <a:t>ФИО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39749" y="4428000"/>
            <a:ext cx="5711825" cy="284683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rPr>
              <a:t>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8705562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карти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4568371"/>
            <a:ext cx="4014788" cy="148092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Место для указания источников и сносок</a:t>
            </a:r>
            <a:endParaRPr lang="en-US" dirty="0"/>
          </a:p>
        </p:txBody>
      </p: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8186737" y="4579414"/>
            <a:ext cx="561975" cy="137049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DF24603-9A1B-F342-92E0-89DE32840F75}" type="slidenum">
              <a:rPr lang="en-US" sz="700" smtClean="0">
                <a:latin typeface="Arial" charset="0"/>
                <a:ea typeface="Arial" charset="0"/>
                <a:cs typeface="Arial" charset="0"/>
              </a:rPr>
              <a:pPr algn="r"/>
              <a:t>‹#›</a:t>
            </a:fld>
            <a:endParaRPr lang="en-US" sz="7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539750" y="431800"/>
            <a:ext cx="6561138" cy="330200"/>
          </a:xfrm>
          <a:prstGeom prst="rect">
            <a:avLst/>
          </a:prstGeom>
        </p:spPr>
        <p:txBody>
          <a:bodyPr lIns="0" tIns="0" rIns="0" bIns="0"/>
          <a:lstStyle>
            <a:lvl1pPr>
              <a:defRPr sz="2300" b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476376"/>
            <a:ext cx="4014788" cy="2465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itchFamily="34" charset="0"/>
              <a:buNone/>
              <a:defRPr sz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sz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Текст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5"/>
          </p:nvPr>
        </p:nvSpPr>
        <p:spPr>
          <a:xfrm>
            <a:off x="4808538" y="1476375"/>
            <a:ext cx="3940175" cy="24569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>
                <a:latin typeface="Arial" pitchFamily="34" charset="0"/>
                <a:cs typeface="Arial" pitchFamily="34" charset="0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99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ы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hart Placeholder 4"/>
          <p:cNvSpPr>
            <a:spLocks noGrp="1"/>
          </p:cNvSpPr>
          <p:nvPr>
            <p:ph type="chart" sz="quarter" idx="16"/>
          </p:nvPr>
        </p:nvSpPr>
        <p:spPr>
          <a:xfrm>
            <a:off x="539750" y="1476375"/>
            <a:ext cx="4014788" cy="18351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700"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6" name="Chart Placeholder 4"/>
          <p:cNvSpPr>
            <a:spLocks noGrp="1"/>
          </p:cNvSpPr>
          <p:nvPr>
            <p:ph type="chart" sz="quarter" idx="17"/>
          </p:nvPr>
        </p:nvSpPr>
        <p:spPr>
          <a:xfrm>
            <a:off x="4808538" y="1476375"/>
            <a:ext cx="3940175" cy="183515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700"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4568371"/>
            <a:ext cx="4014788" cy="148092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Место для указания источников и сносок</a:t>
            </a:r>
            <a:endParaRPr lang="en-US" dirty="0"/>
          </a:p>
        </p:txBody>
      </p: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186737" y="4579414"/>
            <a:ext cx="561975" cy="137049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DF24603-9A1B-F342-92E0-89DE32840F75}" type="slidenum">
              <a:rPr lang="en-US" sz="700" smtClean="0">
                <a:latin typeface="Arial" charset="0"/>
                <a:ea typeface="Arial" charset="0"/>
                <a:cs typeface="Arial" charset="0"/>
              </a:rPr>
              <a:pPr algn="r"/>
              <a:t>‹#›</a:t>
            </a:fld>
            <a:endParaRPr lang="en-US" sz="7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539750" y="431800"/>
            <a:ext cx="6561138" cy="330200"/>
          </a:xfrm>
          <a:prstGeom prst="rect">
            <a:avLst/>
          </a:prstGeom>
        </p:spPr>
        <p:txBody>
          <a:bodyPr lIns="0" tIns="0" rIns="0" bIns="0"/>
          <a:lstStyle>
            <a:lvl1pPr>
              <a:defRPr sz="2300" b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8" hasCustomPrompt="1"/>
          </p:nvPr>
        </p:nvSpPr>
        <p:spPr>
          <a:xfrm>
            <a:off x="539750" y="3482975"/>
            <a:ext cx="4014788" cy="76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sz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Текст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sz="quarter" idx="19" hasCustomPrompt="1"/>
          </p:nvPr>
        </p:nvSpPr>
        <p:spPr>
          <a:xfrm>
            <a:off x="4808538" y="3479346"/>
            <a:ext cx="3940174" cy="76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sz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45409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ы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8" hasCustomPrompt="1"/>
          </p:nvPr>
        </p:nvSpPr>
        <p:spPr>
          <a:xfrm>
            <a:off x="539750" y="1476375"/>
            <a:ext cx="4014788" cy="28013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700" kern="12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lang="en-US" sz="1200" kern="12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lang="en-US" sz="1200" kern="12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lang="en-US" sz="1200" kern="12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lang="en-US" sz="12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ru-RU" dirty="0"/>
              <a:t>Контент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9" hasCustomPrompt="1"/>
          </p:nvPr>
        </p:nvSpPr>
        <p:spPr>
          <a:xfrm>
            <a:off x="4808539" y="1476375"/>
            <a:ext cx="3940174" cy="28013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700" kern="12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lang="en-US" sz="1200" kern="12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lang="en-US" sz="1200" kern="12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lang="en-US" sz="1200" kern="1200" dirty="0" smtClean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lang="en-US" sz="12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ru-RU" dirty="0"/>
              <a:t>Контент</a:t>
            </a:r>
            <a:endParaRPr lang="en-US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4568371"/>
            <a:ext cx="4014788" cy="148092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Место для указания источников и сносок</a:t>
            </a:r>
            <a:endParaRPr lang="en-US" dirty="0"/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8186737" y="4579414"/>
            <a:ext cx="561975" cy="137049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DF24603-9A1B-F342-92E0-89DE32840F75}" type="slidenum">
              <a:rPr lang="en-US" sz="700" smtClean="0">
                <a:latin typeface="Arial" charset="0"/>
                <a:ea typeface="Arial" charset="0"/>
                <a:cs typeface="Arial" charset="0"/>
              </a:rPr>
              <a:pPr algn="r"/>
              <a:t>‹#›</a:t>
            </a:fld>
            <a:endParaRPr lang="en-US" sz="7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39750" y="431800"/>
            <a:ext cx="6561138" cy="330200"/>
          </a:xfrm>
          <a:prstGeom prst="rect">
            <a:avLst/>
          </a:prstGeom>
        </p:spPr>
        <p:txBody>
          <a:bodyPr lIns="0" tIns="0" rIns="0" bIns="0"/>
          <a:lstStyle>
            <a:lvl1pPr>
              <a:defRPr sz="2300" b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476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rt Placeholder 4"/>
          <p:cNvSpPr>
            <a:spLocks noGrp="1"/>
          </p:cNvSpPr>
          <p:nvPr>
            <p:ph type="chart" sz="quarter" idx="17"/>
          </p:nvPr>
        </p:nvSpPr>
        <p:spPr>
          <a:xfrm>
            <a:off x="4808537" y="1476375"/>
            <a:ext cx="3940175" cy="25078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lang="en-US" sz="7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476375"/>
            <a:ext cx="4014788" cy="24584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charset="0"/>
              <a:buNone/>
              <a:defRPr lang="en-US" sz="12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4568371"/>
            <a:ext cx="4014788" cy="148092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Место для указания источников и сносок</a:t>
            </a:r>
            <a:endParaRPr lang="en-US" dirty="0"/>
          </a:p>
        </p:txBody>
      </p: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8186737" y="4579414"/>
            <a:ext cx="561975" cy="137049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DF24603-9A1B-F342-92E0-89DE32840F75}" type="slidenum">
              <a:rPr lang="en-US" sz="700" smtClean="0">
                <a:latin typeface="Arial" charset="0"/>
                <a:ea typeface="Arial" charset="0"/>
                <a:cs typeface="Arial" charset="0"/>
              </a:rPr>
              <a:pPr algn="r"/>
              <a:t>‹#›</a:t>
            </a:fld>
            <a:endParaRPr lang="en-US" sz="7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539750" y="431800"/>
            <a:ext cx="6561138" cy="330200"/>
          </a:xfrm>
          <a:prstGeom prst="rect">
            <a:avLst/>
          </a:prstGeom>
        </p:spPr>
        <p:txBody>
          <a:bodyPr lIns="0" tIns="0" rIns="0" bIns="0"/>
          <a:lstStyle>
            <a:lvl1pPr>
              <a:defRPr sz="2300" b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775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5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52839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431800"/>
            <a:ext cx="816864" cy="104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01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5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3514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35879" cy="514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53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35879" cy="514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5371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35879" cy="514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53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0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35879" cy="514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53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5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3320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www.google.com/search?q=Optical+Character+Recognition&amp;oq=%D1%89%D1%81%D0%BA+%27nj%26&amp;gs_lcrp=EgZjaHJvbWUqCQgBEAAYDRiABDIGCAAQRRg5MgkIARAAGA0YgAQyCQgCEAAYDRiABDIJCAMQABgNGIAEMgkIBBAAGA0YgAQyCQgFEAAYDRiABDIICAYQABgNGB4yCAgHEAAYDRgeMggICBAAGA0YHjIICAkQABgNGB7SAQgzMDU2ajBqN6gCALACAA&amp;sourceid=chrome&amp;ie=UTF-8&amp;ved=2ahUKEwiJmprMxLqTAxUaIRAIHd6yPRUQgK4QegYIAQgAEA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/>
          <p:cNvSpPr>
            <a:spLocks noGrp="1"/>
          </p:cNvSpPr>
          <p:nvPr>
            <p:ph type="title"/>
          </p:nvPr>
        </p:nvSpPr>
        <p:spPr>
          <a:xfrm>
            <a:off x="539747" y="1655146"/>
            <a:ext cx="5711825" cy="1189037"/>
          </a:xfrm>
        </p:spPr>
        <p:txBody>
          <a:bodyPr/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Система распознавания документов</a:t>
            </a:r>
            <a:br>
              <a:rPr lang="ru-RU" dirty="0">
                <a:latin typeface="Arial" pitchFamily="34" charset="0"/>
                <a:cs typeface="Arial" pitchFamily="34" charset="0"/>
              </a:rPr>
            </a:br>
            <a:br>
              <a:rPr lang="ru-RU" dirty="0">
                <a:latin typeface="Arial" pitchFamily="34" charset="0"/>
                <a:cs typeface="Arial" pitchFamily="34" charset="0"/>
              </a:rPr>
            </a:br>
            <a:r>
              <a:rPr lang="ru-RU" sz="1400" b="1" dirty="0"/>
              <a:t>Автоматизация обработки документов с использованием OCR, </a:t>
            </a:r>
            <a:r>
              <a:rPr lang="ru-RU" sz="1400" b="1" dirty="0" err="1"/>
              <a:t>Layout</a:t>
            </a:r>
            <a:r>
              <a:rPr lang="ru-RU" sz="1400" b="1" dirty="0"/>
              <a:t> </a:t>
            </a:r>
            <a:r>
              <a:rPr lang="ru-RU" sz="1400" b="1" dirty="0" err="1"/>
              <a:t>Detection</a:t>
            </a:r>
            <a:r>
              <a:rPr lang="ru-RU" sz="1400" b="1" dirty="0"/>
              <a:t> и NER</a:t>
            </a:r>
            <a:br>
              <a:rPr lang="ru-RU" dirty="0"/>
            </a:b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Текст 3"/>
          <p:cNvSpPr>
            <a:spLocks noGrp="1"/>
          </p:cNvSpPr>
          <p:nvPr>
            <p:ph type="body" sz="quarter" idx="11"/>
          </p:nvPr>
        </p:nvSpPr>
        <p:spPr>
          <a:xfrm>
            <a:off x="539749" y="3493116"/>
            <a:ext cx="5711825" cy="218486"/>
          </a:xfrm>
          <a:prstGeom prst="rect">
            <a:avLst/>
          </a:prstGeom>
        </p:spPr>
        <p:txBody>
          <a:bodyPr/>
          <a:lstStyle/>
          <a:p>
            <a:r>
              <a:rPr lang="ru-RU" b="1" dirty="0">
                <a:latin typeface="Arial" pitchFamily="34" charset="0"/>
                <a:cs typeface="Arial" pitchFamily="34" charset="0"/>
              </a:rPr>
              <a:t>Муртазин Руслан </a:t>
            </a:r>
            <a:r>
              <a:rPr lang="ru-RU" b="1" dirty="0" err="1">
                <a:latin typeface="Arial" pitchFamily="34" charset="0"/>
                <a:cs typeface="Arial" pitchFamily="34" charset="0"/>
              </a:rPr>
              <a:t>Шамилевич</a:t>
            </a:r>
            <a:endParaRPr lang="ru-RU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Текст 4"/>
          <p:cNvSpPr>
            <a:spLocks noGrp="1"/>
          </p:cNvSpPr>
          <p:nvPr>
            <p:ph type="body" sz="quarter" idx="12"/>
          </p:nvPr>
        </p:nvSpPr>
        <p:spPr>
          <a:xfrm>
            <a:off x="539748" y="3893194"/>
            <a:ext cx="5711825" cy="284683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АО «КОНСИСТ-ОС»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ru-RU" dirty="0">
              <a:latin typeface="Arial" pitchFamily="34" charset="0"/>
              <a:cs typeface="Arial" pitchFamily="34" charset="0"/>
            </a:endParaRPr>
          </a:p>
          <a:p>
            <a:r>
              <a:rPr lang="ru-RU" dirty="0">
                <a:latin typeface="Arial" pitchFamily="34" charset="0"/>
                <a:cs typeface="Arial" pitchFamily="34" charset="0"/>
              </a:rPr>
              <a:t>+7 (996) 746 18 90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murtazin-rs@rosenergoatom.ru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510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951D26-FF90-4039-AD29-8EC32E34ADD4}"/>
              </a:ext>
            </a:extLst>
          </p:cNvPr>
          <p:cNvSpPr txBox="1"/>
          <p:nvPr/>
        </p:nvSpPr>
        <p:spPr>
          <a:xfrm>
            <a:off x="488995" y="1419969"/>
            <a:ext cx="41409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Документы содержат сложную структуру: заголовки, таблицы, блоки текста, печати, подписи и т.д. </a:t>
            </a:r>
          </a:p>
          <a:p>
            <a:pPr algn="just"/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Простого OCR недостаточно. Нужна автоматизированная система, которая: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понимает структуру документа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извлекает текст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выделяет сущности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A592115-23AC-4992-84D5-7C686FDEF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299" y="787509"/>
            <a:ext cx="2876592" cy="40406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26144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400" dirty="0"/>
              <a:t>Цель проекта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6E2EFC-B770-485A-86FC-343A18D17AB2}"/>
              </a:ext>
            </a:extLst>
          </p:cNvPr>
          <p:cNvSpPr txBox="1"/>
          <p:nvPr/>
        </p:nvSpPr>
        <p:spPr>
          <a:xfrm>
            <a:off x="2061385" y="1719228"/>
            <a:ext cx="502123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Разработать систему распознавания документов, которая автоматически определяет структуру документа, извлекает текст и выделяет ключевые сущности для последующей обработки.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856533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/>
              <a:t>Архитектура системы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D2E7A6-3F59-4AD7-8849-87F942F2E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951" y="1251039"/>
            <a:ext cx="4806098" cy="306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672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/>
              <a:t>Модуль 1 — </a:t>
            </a:r>
            <a:r>
              <a:rPr lang="en-US" sz="2400" dirty="0"/>
              <a:t>Layout Detection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7A0D7A-DF58-41F9-937E-900483C07B57}"/>
              </a:ext>
            </a:extLst>
          </p:cNvPr>
          <p:cNvSpPr txBox="1"/>
          <p:nvPr/>
        </p:nvSpPr>
        <p:spPr>
          <a:xfrm>
            <a:off x="539750" y="3170126"/>
            <a:ext cx="45409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Для детекции структуры документа использовалась модель на основе </a:t>
            </a:r>
            <a:r>
              <a:rPr lang="ru-RU" b="1" dirty="0"/>
              <a:t>YOLO</a:t>
            </a:r>
            <a:r>
              <a:rPr lang="ru-RU" dirty="0"/>
              <a:t>, адаптированная под задачи анализа документных макетов.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12B2C8-D24C-4E89-AA00-D4CAE1B0AA31}"/>
              </a:ext>
            </a:extLst>
          </p:cNvPr>
          <p:cNvSpPr txBox="1"/>
          <p:nvPr/>
        </p:nvSpPr>
        <p:spPr>
          <a:xfrm>
            <a:off x="539751" y="1173798"/>
            <a:ext cx="41288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1" dirty="0" err="1"/>
              <a:t>Layout</a:t>
            </a:r>
            <a:r>
              <a:rPr lang="ru-RU" b="1" dirty="0"/>
              <a:t> </a:t>
            </a:r>
            <a:r>
              <a:rPr lang="ru-RU" b="1" dirty="0" err="1"/>
              <a:t>Detection</a:t>
            </a:r>
            <a:r>
              <a:rPr lang="ru-RU" b="1" dirty="0"/>
              <a:t> </a:t>
            </a:r>
            <a:r>
              <a:rPr lang="ru-RU" dirty="0"/>
              <a:t>нужен, чтобы разбить документ на логические зоны: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текстовые блоки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заголовки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таблицы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изображения / печати / подписи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E5BF74B-45E2-479E-808F-B214C840AB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260" y="926466"/>
            <a:ext cx="2331255" cy="329532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91964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/>
              <a:t>Модуль 2 — </a:t>
            </a:r>
            <a:r>
              <a:rPr lang="en-US" sz="2400" dirty="0"/>
              <a:t>OCR</a:t>
            </a:r>
            <a:endParaRPr lang="ru-R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897365-BBA6-4299-A970-86BC0EBA44D4}"/>
              </a:ext>
            </a:extLst>
          </p:cNvPr>
          <p:cNvSpPr txBox="1"/>
          <p:nvPr/>
        </p:nvSpPr>
        <p:spPr>
          <a:xfrm>
            <a:off x="639389" y="1181629"/>
            <a:ext cx="70459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dirty="0"/>
              <a:t>OCR</a:t>
            </a:r>
            <a:r>
              <a:rPr lang="ru-RU" sz="1600" dirty="0"/>
              <a:t> (</a:t>
            </a:r>
            <a:r>
              <a:rPr lang="ru-RU" sz="1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Optical </a:t>
            </a:r>
            <a:r>
              <a:rPr lang="ru-RU" sz="1600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Character</a:t>
            </a:r>
            <a:r>
              <a:rPr lang="ru-RU" sz="1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1600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Recognition</a:t>
            </a:r>
            <a:r>
              <a:rPr lang="ru-RU" sz="1600" dirty="0"/>
              <a:t> — оптическое распознавание символов) — это технология преобразования изображений в редактируемый и пригодный для поиска текстовый формат.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ru-RU" sz="1600" dirty="0"/>
              <a:t>Это ключевой элемент нашей системы.</a:t>
            </a:r>
          </a:p>
        </p:txBody>
      </p:sp>
      <p:pic>
        <p:nvPicPr>
          <p:cNvPr id="2050" name="Picture 2" descr="Значение OCR — функция OCR в iOS 18/17 и как работает OCR">
            <a:extLst>
              <a:ext uri="{FF2B5EF4-FFF2-40B4-BE49-F238E27FC236}">
                <a16:creationId xmlns:a16="http://schemas.microsoft.com/office/drawing/2014/main" id="{023DE64C-6474-4D75-9893-6CD599307B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73" b="17401"/>
          <a:stretch/>
        </p:blipFill>
        <p:spPr bwMode="auto">
          <a:xfrm>
            <a:off x="1865929" y="2924697"/>
            <a:ext cx="4592826" cy="1962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2850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/>
              <a:t>Модуль 2 — </a:t>
            </a:r>
            <a:r>
              <a:rPr lang="en-US" sz="2400" dirty="0"/>
              <a:t>OCR-</a:t>
            </a:r>
            <a:r>
              <a:rPr lang="ru-RU" sz="2400" dirty="0"/>
              <a:t>Решения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0EE959-0253-44AD-9589-A7A3057D5C1D}"/>
              </a:ext>
            </a:extLst>
          </p:cNvPr>
          <p:cNvSpPr txBox="1"/>
          <p:nvPr/>
        </p:nvSpPr>
        <p:spPr>
          <a:xfrm>
            <a:off x="539749" y="1209265"/>
            <a:ext cx="794742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Для извлечения текста использовались две OCR-модели: </a:t>
            </a:r>
            <a:r>
              <a:rPr lang="ru-RU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Tesseract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GLM-OCR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Tesseract</a:t>
            </a:r>
            <a:r>
              <a:rPr kumimoji="0" lang="en-US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быстрый и удобный базовый OCR-инструмент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GLM-OCR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более качественное распознавание на сложных документах.</a:t>
            </a:r>
            <a:endParaRPr kumimoji="0" lang="ru-RU" altLang="ru-RU" sz="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/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01" name="Picture 5">
            <a:extLst>
              <a:ext uri="{FF2B5EF4-FFF2-40B4-BE49-F238E27FC236}">
                <a16:creationId xmlns:a16="http://schemas.microsoft.com/office/drawing/2014/main" id="{075FC439-ED12-4088-AAB3-F6B34BC16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671" y="3088880"/>
            <a:ext cx="2475293" cy="109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6D2E4B7-1880-423F-BD8D-EDB14B807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330809"/>
            <a:ext cx="3706329" cy="85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73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/>
              <a:t>Модуль </a:t>
            </a:r>
            <a:r>
              <a:rPr lang="en-US" sz="2400" dirty="0"/>
              <a:t>3</a:t>
            </a:r>
            <a:r>
              <a:rPr lang="ru-RU" sz="2400" dirty="0"/>
              <a:t> — </a:t>
            </a:r>
            <a:r>
              <a:rPr lang="en-US" sz="2400" dirty="0"/>
              <a:t>NER</a:t>
            </a:r>
            <a:endParaRPr lang="ru-RU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748A74-964C-465B-8B1D-02E2FF2F5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9461" y="1176191"/>
            <a:ext cx="55245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После OCR текст передавался в модуль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который выделял 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ключевые именованные сущности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 преобразовывал неструктурированный текст в полезные данные.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086003-47F4-494A-9D3F-801E23BA7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235812"/>
            <a:ext cx="2367903" cy="310740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E7866D-8E7D-4773-833B-93859DF10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098" y="2653519"/>
            <a:ext cx="2739225" cy="218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446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ython (programming language) - Wikipedia">
            <a:extLst>
              <a:ext uri="{FF2B5EF4-FFF2-40B4-BE49-F238E27FC236}">
                <a16:creationId xmlns:a16="http://schemas.microsoft.com/office/drawing/2014/main" id="{88781FC9-4A7C-4713-BCA8-7D37622A6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22" y="1624918"/>
            <a:ext cx="1820866" cy="1820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FastAPI | Python | Примеры | dockhost.ru">
            <a:extLst>
              <a:ext uri="{FF2B5EF4-FFF2-40B4-BE49-F238E27FC236}">
                <a16:creationId xmlns:a16="http://schemas.microsoft.com/office/drawing/2014/main" id="{3AB4C605-4CA9-4C48-884E-7E03622A1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88" y="3616774"/>
            <a:ext cx="3839600" cy="138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Brand • Streamlit">
            <a:extLst>
              <a:ext uri="{FF2B5EF4-FFF2-40B4-BE49-F238E27FC236}">
                <a16:creationId xmlns:a16="http://schemas.microsoft.com/office/drawing/2014/main" id="{0BDAD849-49CF-4899-BA24-0EF86EE08A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91" t="13134" r="30816" b="50942"/>
          <a:stretch/>
        </p:blipFill>
        <p:spPr bwMode="auto">
          <a:xfrm>
            <a:off x="2524168" y="1531488"/>
            <a:ext cx="1989878" cy="1142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2D261120-8E05-4442-BF01-E8E38DA4A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907" y="3155340"/>
            <a:ext cx="1554881" cy="688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185AA32-A93A-45A6-AB87-559206AD95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164126"/>
            <a:ext cx="2158861" cy="49759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381061E-41B5-4C75-85EC-623F762AC3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4808" y="1984066"/>
            <a:ext cx="1395276" cy="1461718"/>
          </a:xfrm>
          <a:prstGeom prst="rect">
            <a:avLst/>
          </a:prstGeom>
        </p:spPr>
      </p:pic>
      <p:sp>
        <p:nvSpPr>
          <p:cNvPr id="13" name="Заголовок 2">
            <a:extLst>
              <a:ext uri="{FF2B5EF4-FFF2-40B4-BE49-F238E27FC236}">
                <a16:creationId xmlns:a16="http://schemas.microsoft.com/office/drawing/2014/main" id="{1A931090-3D5C-422E-9944-108CC491C8EB}"/>
              </a:ext>
            </a:extLst>
          </p:cNvPr>
          <p:cNvSpPr txBox="1">
            <a:spLocks/>
          </p:cNvSpPr>
          <p:nvPr/>
        </p:nvSpPr>
        <p:spPr>
          <a:xfrm>
            <a:off x="381422" y="424047"/>
            <a:ext cx="6561138" cy="3302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b="1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sz="2400"/>
              <a:t>Техническая реализация</a:t>
            </a:r>
            <a:endParaRPr lang="ru-RU" sz="2400" dirty="0"/>
          </a:p>
        </p:txBody>
      </p:sp>
      <p:pic>
        <p:nvPicPr>
          <p:cNvPr id="6156" name="Picture 12" descr="Hugging Face Transformers APIs | Niklas Heidloff">
            <a:extLst>
              <a:ext uri="{FF2B5EF4-FFF2-40B4-BE49-F238E27FC236}">
                <a16:creationId xmlns:a16="http://schemas.microsoft.com/office/drawing/2014/main" id="{83A938D0-48D6-40CE-8CDE-7FAE4A3395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95" t="25112" r="19528" b="34026"/>
          <a:stretch/>
        </p:blipFill>
        <p:spPr bwMode="auto">
          <a:xfrm>
            <a:off x="5359107" y="1155207"/>
            <a:ext cx="1815701" cy="688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DD3E0F0-4522-4292-999B-D9A2BF9B2EB9}"/>
              </a:ext>
            </a:extLst>
          </p:cNvPr>
          <p:cNvSpPr txBox="1"/>
          <p:nvPr/>
        </p:nvSpPr>
        <p:spPr>
          <a:xfrm>
            <a:off x="4894422" y="2326167"/>
            <a:ext cx="1451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Source Code Pro" panose="020B0509030403020204" pitchFamily="49" charset="0"/>
              </a:rPr>
              <a:t>pdf2image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8648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539750" y="451118"/>
            <a:ext cx="6561138" cy="330200"/>
          </a:xfrm>
        </p:spPr>
        <p:txBody>
          <a:bodyPr/>
          <a:lstStyle/>
          <a:p>
            <a:r>
              <a:rPr lang="ru-RU" sz="2400" dirty="0"/>
              <a:t>Демонстрация решения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9C5756-3BD9-4EA0-9DE6-B680B1560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92" y="1159098"/>
            <a:ext cx="3771531" cy="306517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FB37188-F8EF-4C4E-8A69-06027F690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626" y="1106218"/>
            <a:ext cx="2443615" cy="311805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96390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539750" y="451118"/>
            <a:ext cx="6561138" cy="330200"/>
          </a:xfrm>
        </p:spPr>
        <p:txBody>
          <a:bodyPr/>
          <a:lstStyle/>
          <a:p>
            <a:r>
              <a:rPr lang="ru-RU" sz="2400" dirty="0"/>
              <a:t>Демонстрация решения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FBF38E-5DF1-4A05-B503-DA3339667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089696"/>
            <a:ext cx="4969201" cy="360744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14150DD-FF9C-41A5-A0A9-BABF5C3B9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616" y="1210614"/>
            <a:ext cx="3159231" cy="322287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91693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2">
            <a:extLst>
              <a:ext uri="{FF2B5EF4-FFF2-40B4-BE49-F238E27FC236}">
                <a16:creationId xmlns:a16="http://schemas.microsoft.com/office/drawing/2014/main" id="{C3916CB2-AE44-4330-9DAD-ED801CCEBF3D}"/>
              </a:ext>
            </a:extLst>
          </p:cNvPr>
          <p:cNvSpPr txBox="1">
            <a:spLocks/>
          </p:cNvSpPr>
          <p:nvPr/>
        </p:nvSpPr>
        <p:spPr>
          <a:xfrm>
            <a:off x="539750" y="431800"/>
            <a:ext cx="6561138" cy="3302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b="1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altLang="ru-RU" sz="2400"/>
              <a:t>Перспективы развития</a:t>
            </a:r>
            <a:endParaRPr lang="ru-R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7E5DB4-E64E-4A22-BDDF-001132F4F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190987"/>
            <a:ext cx="570103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Ключевые улучшения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дообучение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layout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-модели на новых типах документов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дообучение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OCR на сложных сканах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расширение набора сущностей для NER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поддержка таблиц и форм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экспорт в базы данных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интеграция в корпоративные процессы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9584E-5FB3-4F87-8459-F07A5563AF02}"/>
              </a:ext>
            </a:extLst>
          </p:cNvPr>
          <p:cNvSpPr txBox="1"/>
          <p:nvPr/>
        </p:nvSpPr>
        <p:spPr>
          <a:xfrm>
            <a:off x="539750" y="1060995"/>
            <a:ext cx="69882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1600" dirty="0">
                <a:latin typeface="Arial" panose="020B0604020202020204" pitchFamily="34" charset="0"/>
              </a:rPr>
              <a:t>В дальнейшем система может быть расширена до полноценного сервиса интеллектуальной обработки документов с поддержкой различных форматов и сценариев использования</a:t>
            </a:r>
            <a:r>
              <a:rPr lang="en-US" sz="1600" dirty="0">
                <a:latin typeface="Arial" panose="020B0604020202020204" pitchFamily="34" charset="0"/>
              </a:rPr>
              <a:t>.</a:t>
            </a:r>
            <a:endParaRPr lang="ru-RU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231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Система распознавания документов</a:t>
            </a:r>
          </a:p>
        </p:txBody>
      </p:sp>
      <p:sp>
        <p:nvSpPr>
          <p:cNvPr id="18" name="Текст 3"/>
          <p:cNvSpPr>
            <a:spLocks noGrp="1"/>
          </p:cNvSpPr>
          <p:nvPr>
            <p:ph type="body" sz="quarter" idx="11"/>
          </p:nvPr>
        </p:nvSpPr>
        <p:spPr>
          <a:xfrm>
            <a:off x="539749" y="3493116"/>
            <a:ext cx="5711825" cy="218486"/>
          </a:xfrm>
          <a:prstGeom prst="rect">
            <a:avLst/>
          </a:prstGeom>
        </p:spPr>
        <p:txBody>
          <a:bodyPr/>
          <a:lstStyle/>
          <a:p>
            <a:r>
              <a:rPr lang="ru-RU" b="1" dirty="0">
                <a:latin typeface="Arial" pitchFamily="34" charset="0"/>
                <a:cs typeface="Arial" pitchFamily="34" charset="0"/>
              </a:rPr>
              <a:t>Муртазин Руслан </a:t>
            </a:r>
            <a:r>
              <a:rPr lang="ru-RU" b="1" dirty="0" err="1">
                <a:latin typeface="Arial" pitchFamily="34" charset="0"/>
                <a:cs typeface="Arial" pitchFamily="34" charset="0"/>
              </a:rPr>
              <a:t>Шамилевич</a:t>
            </a:r>
            <a:endParaRPr lang="ru-RU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Текст 4"/>
          <p:cNvSpPr>
            <a:spLocks noGrp="1"/>
          </p:cNvSpPr>
          <p:nvPr>
            <p:ph type="body" sz="quarter" idx="12"/>
          </p:nvPr>
        </p:nvSpPr>
        <p:spPr>
          <a:xfrm>
            <a:off x="539748" y="3893194"/>
            <a:ext cx="5711825" cy="284683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latin typeface="Arial" pitchFamily="34" charset="0"/>
                <a:cs typeface="Arial" pitchFamily="34" charset="0"/>
              </a:rPr>
              <a:t>АО «КОНСИСТ-ОС»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ru-RU" dirty="0">
              <a:latin typeface="Arial" pitchFamily="34" charset="0"/>
              <a:cs typeface="Arial" pitchFamily="34" charset="0"/>
            </a:endParaRPr>
          </a:p>
          <a:p>
            <a:r>
              <a:rPr lang="ru-RU" dirty="0">
                <a:latin typeface="Arial" pitchFamily="34" charset="0"/>
                <a:cs typeface="Arial" pitchFamily="34" charset="0"/>
              </a:rPr>
              <a:t>+7 (996) 746 18 90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murtazin-rs@rosenergoatom.ru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610167"/>
      </p:ext>
    </p:extLst>
  </p:cSld>
  <p:clrMapOvr>
    <a:masterClrMapping/>
  </p:clrMapOvr>
</p:sld>
</file>

<file path=ppt/theme/theme1.xml><?xml version="1.0" encoding="utf-8"?>
<a:theme xmlns:a="http://schemas.openxmlformats.org/drawingml/2006/main" name="Титульный слайд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Классическая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16x9_white_template" id="{815E4B3B-8E01-5242-B9F1-F7029D6381FB}" vid="{541B8C7B-4633-2E45-B746-A05B8E1543F8}"/>
    </a:ext>
  </a:extLst>
</a:theme>
</file>

<file path=ppt/theme/theme2.xml><?xml version="1.0" encoding="utf-8"?>
<a:theme xmlns:a="http://schemas.openxmlformats.org/drawingml/2006/main" name="Перебивочный слайд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16x9_white_template" id="{815E4B3B-8E01-5242-B9F1-F7029D6381FB}" vid="{6BE6B458-93C6-814D-A81B-47849E6A55A1}"/>
    </a:ext>
  </a:extLst>
</a:theme>
</file>

<file path=ppt/theme/theme3.xml><?xml version="1.0" encoding="utf-8"?>
<a:theme xmlns:a="http://schemas.openxmlformats.org/drawingml/2006/main" name="Текст картинк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16x9_white_template" id="{815E4B3B-8E01-5242-B9F1-F7029D6381FB}" vid="{7389C019-FE70-D24D-871A-DAD941594136}"/>
    </a:ext>
  </a:extLst>
</a:theme>
</file>

<file path=ppt/theme/theme4.xml><?xml version="1.0" encoding="utf-8"?>
<a:theme xmlns:a="http://schemas.openxmlformats.org/drawingml/2006/main" name="Текст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16x9_white_template" id="{815E4B3B-8E01-5242-B9F1-F7029D6381FB}" vid="{7389C019-FE70-D24D-871A-DAD941594136}"/>
    </a:ext>
  </a:extLst>
</a:theme>
</file>

<file path=ppt/theme/theme5.xml><?xml version="1.0" encoding="utf-8"?>
<a:theme xmlns:a="http://schemas.openxmlformats.org/drawingml/2006/main" name="Диаграммы">
  <a:themeElements>
    <a:clrScheme name="тема для слайдов с диаграммами">
      <a:dk1>
        <a:srgbClr val="414042"/>
      </a:dk1>
      <a:lt1>
        <a:sysClr val="window" lastClr="FFFFFF"/>
      </a:lt1>
      <a:dk2>
        <a:srgbClr val="FFFFFF"/>
      </a:dk2>
      <a:lt2>
        <a:srgbClr val="FFFFFF"/>
      </a:lt2>
      <a:accent1>
        <a:srgbClr val="293D6D"/>
      </a:accent1>
      <a:accent2>
        <a:srgbClr val="456EA9"/>
      </a:accent2>
      <a:accent3>
        <a:srgbClr val="68B0E0"/>
      </a:accent3>
      <a:accent4>
        <a:srgbClr val="ACC44D"/>
      </a:accent4>
      <a:accent5>
        <a:srgbClr val="4C9D8D"/>
      </a:accent5>
      <a:accent6>
        <a:srgbClr val="7F7F7F"/>
      </a:accent6>
      <a:hlink>
        <a:srgbClr val="414042"/>
      </a:hlink>
      <a:folHlink>
        <a:srgbClr val="41404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16x9_white_template" id="{815E4B3B-8E01-5242-B9F1-F7029D6381FB}" vid="{7389C019-FE70-D24D-871A-DAD941594136}"/>
    </a:ext>
  </a:extLst>
</a:theme>
</file>

<file path=ppt/theme/theme6.xml><?xml version="1.0" encoding="utf-8"?>
<a:theme xmlns:a="http://schemas.openxmlformats.org/drawingml/2006/main" name="Текст диаграмма">
  <a:themeElements>
    <a:clrScheme name="тема для слайдов текст-диаграмма">
      <a:dk1>
        <a:srgbClr val="414042"/>
      </a:dk1>
      <a:lt1>
        <a:sysClr val="window" lastClr="FFFFFF"/>
      </a:lt1>
      <a:dk2>
        <a:srgbClr val="FFFFFF"/>
      </a:dk2>
      <a:lt2>
        <a:srgbClr val="FFFFFF"/>
      </a:lt2>
      <a:accent1>
        <a:srgbClr val="EBA444"/>
      </a:accent1>
      <a:accent2>
        <a:srgbClr val="F06942"/>
      </a:accent2>
      <a:accent3>
        <a:srgbClr val="AD5483"/>
      </a:accent3>
      <a:accent4>
        <a:srgbClr val="456EA9"/>
      </a:accent4>
      <a:accent5>
        <a:srgbClr val="68B0E0"/>
      </a:accent5>
      <a:accent6>
        <a:srgbClr val="259789"/>
      </a:accent6>
      <a:hlink>
        <a:srgbClr val="414042"/>
      </a:hlink>
      <a:folHlink>
        <a:srgbClr val="41404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16x9_white_template" id="{815E4B3B-8E01-5242-B9F1-F7029D6381FB}" vid="{7389C019-FE70-D24D-871A-DAD941594136}"/>
    </a:ext>
  </a:extLst>
</a:theme>
</file>

<file path=ppt/theme/theme7.xml><?xml version="1.0" encoding="utf-8"?>
<a:theme xmlns:a="http://schemas.openxmlformats.org/drawingml/2006/main" name="Заключительный слайд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0DAE905-2894-9645-87E8-4A089C61D1E7}" vid="{BB001172-481D-5B4F-A54A-4F845D4C8301}"/>
    </a:ext>
  </a:extLst>
</a:theme>
</file>

<file path=ppt/theme/theme8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Presentation_16x9_white_template</Template>
  <TotalTime>761</TotalTime>
  <Words>316</Words>
  <Application>Microsoft Office PowerPoint</Application>
  <PresentationFormat>Произвольный</PresentationFormat>
  <Paragraphs>54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7</vt:i4>
      </vt:variant>
      <vt:variant>
        <vt:lpstr>Заголовки слайдов</vt:lpstr>
      </vt:variant>
      <vt:variant>
        <vt:i4>13</vt:i4>
      </vt:variant>
    </vt:vector>
  </HeadingPairs>
  <TitlesOfParts>
    <vt:vector size="23" baseType="lpstr">
      <vt:lpstr>Arial</vt:lpstr>
      <vt:lpstr>Calibri</vt:lpstr>
      <vt:lpstr>Source Code Pro</vt:lpstr>
      <vt:lpstr>Титульный слайд</vt:lpstr>
      <vt:lpstr>Перебивочный слайд</vt:lpstr>
      <vt:lpstr>Текст картинка</vt:lpstr>
      <vt:lpstr>Текст</vt:lpstr>
      <vt:lpstr>Диаграммы</vt:lpstr>
      <vt:lpstr>Текст диаграмма</vt:lpstr>
      <vt:lpstr>Заключительный слайд</vt:lpstr>
      <vt:lpstr>Система распознавания документов  Автоматизация обработки документов с использованием OCR, Layout Detection и NER </vt:lpstr>
      <vt:lpstr>Проблема</vt:lpstr>
      <vt:lpstr>Цель проекта</vt:lpstr>
      <vt:lpstr>Архитектура системы</vt:lpstr>
      <vt:lpstr>Модуль 1 — Layout Detection</vt:lpstr>
      <vt:lpstr>Модуль 2 — OCR</vt:lpstr>
      <vt:lpstr>Модуль 2 — OCR-Решения</vt:lpstr>
      <vt:lpstr>Модуль 3 — NER</vt:lpstr>
      <vt:lpstr>Презентация PowerPoint</vt:lpstr>
      <vt:lpstr>Демонстрация решения</vt:lpstr>
      <vt:lpstr>Демонстрация решения</vt:lpstr>
      <vt:lpstr>Презентация PowerPoint</vt:lpstr>
      <vt:lpstr>Система распознавания документов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Анна Хомякова</dc:creator>
  <cp:lastModifiedBy>Руслан Муртазин</cp:lastModifiedBy>
  <cp:revision>135</cp:revision>
  <dcterms:created xsi:type="dcterms:W3CDTF">2019-09-24T12:37:05Z</dcterms:created>
  <dcterms:modified xsi:type="dcterms:W3CDTF">2026-03-25T08:30:58Z</dcterms:modified>
</cp:coreProperties>
</file>