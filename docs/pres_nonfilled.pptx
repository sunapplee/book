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6" r:id="rId1"/>
    <p:sldMasterId id="2147483769" r:id="rId2"/>
    <p:sldMasterId id="2147483772" r:id="rId3"/>
    <p:sldMasterId id="2147483794" r:id="rId4"/>
    <p:sldMasterId id="2147483803" r:id="rId5"/>
    <p:sldMasterId id="2147483811" r:id="rId6"/>
    <p:sldMasterId id="2147483780" r:id="rId7"/>
  </p:sldMasterIdLst>
  <p:notesMasterIdLst>
    <p:notesMasterId r:id="rId21"/>
  </p:notesMasterIdLst>
  <p:handoutMasterIdLst>
    <p:handoutMasterId r:id="rId22"/>
  </p:handoutMasterIdLst>
  <p:sldIdLst>
    <p:sldId id="264" r:id="rId8"/>
    <p:sldId id="273" r:id="rId9"/>
    <p:sldId id="278" r:id="rId10"/>
    <p:sldId id="279" r:id="rId11"/>
    <p:sldId id="280" r:id="rId12"/>
    <p:sldId id="283" r:id="rId13"/>
    <p:sldId id="285" r:id="rId14"/>
    <p:sldId id="284" r:id="rId15"/>
    <p:sldId id="281" r:id="rId16"/>
    <p:sldId id="286" r:id="rId17"/>
    <p:sldId id="282" r:id="rId18"/>
    <p:sldId id="288" r:id="rId19"/>
    <p:sldId id="287" r:id="rId20"/>
  </p:sldIdLst>
  <p:sldSz cx="9144000" cy="514826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orient="horz" pos="3028" userDrawn="1">
          <p15:clr>
            <a:srgbClr val="A4A3A4"/>
          </p15:clr>
        </p15:guide>
        <p15:guide id="4" pos="5511" userDrawn="1">
          <p15:clr>
            <a:srgbClr val="A4A3A4"/>
          </p15:clr>
        </p15:guide>
        <p15:guide id="5" orient="horz" pos="272">
          <p15:clr>
            <a:srgbClr val="A4A3A4"/>
          </p15:clr>
        </p15:guide>
        <p15:guide id="6" orient="horz" pos="2971">
          <p15:clr>
            <a:srgbClr val="A4A3A4"/>
          </p15:clr>
        </p15:guide>
        <p15:guide id="7" orient="horz" pos="930">
          <p15:clr>
            <a:srgbClr val="A4A3A4"/>
          </p15:clr>
        </p15:guide>
        <p15:guide id="8" orient="horz" pos="1337">
          <p15:clr>
            <a:srgbClr val="A4A3A4"/>
          </p15:clr>
        </p15:guide>
        <p15:guide id="9" orient="horz" pos="2086">
          <p15:clr>
            <a:srgbClr val="A4A3A4"/>
          </p15:clr>
        </p15:guide>
        <p15:guide id="10" pos="2331">
          <p15:clr>
            <a:srgbClr val="A4A3A4"/>
          </p15:clr>
        </p15:guide>
        <p15:guide id="11" pos="726">
          <p15:clr>
            <a:srgbClr val="A4A3A4"/>
          </p15:clr>
        </p15:guide>
        <p15:guide id="12" pos="875">
          <p15:clr>
            <a:srgbClr val="A4A3A4"/>
          </p15:clr>
        </p15:guide>
        <p15:guide id="13" pos="1260">
          <p15:clr>
            <a:srgbClr val="A4A3A4"/>
          </p15:clr>
        </p15:guide>
        <p15:guide id="14" pos="1410">
          <p15:clr>
            <a:srgbClr val="A4A3A4"/>
          </p15:clr>
        </p15:guide>
        <p15:guide id="15" pos="1796">
          <p15:clr>
            <a:srgbClr val="A4A3A4"/>
          </p15:clr>
        </p15:guide>
        <p15:guide id="16" pos="1944">
          <p15:clr>
            <a:srgbClr val="A4A3A4"/>
          </p15:clr>
        </p15:guide>
        <p15:guide id="17" pos="2481">
          <p15:clr>
            <a:srgbClr val="A4A3A4"/>
          </p15:clr>
        </p15:guide>
        <p15:guide id="18" pos="2869">
          <p15:clr>
            <a:srgbClr val="A4A3A4"/>
          </p15:clr>
        </p15:guide>
        <p15:guide id="19" pos="3029">
          <p15:clr>
            <a:srgbClr val="A4A3A4"/>
          </p15:clr>
        </p15:guide>
        <p15:guide id="20" pos="3402">
          <p15:clr>
            <a:srgbClr val="A4A3A4"/>
          </p15:clr>
        </p15:guide>
        <p15:guide id="21" pos="3552">
          <p15:clr>
            <a:srgbClr val="A4A3A4"/>
          </p15:clr>
        </p15:guide>
        <p15:guide id="22" pos="3938">
          <p15:clr>
            <a:srgbClr val="A4A3A4"/>
          </p15:clr>
        </p15:guide>
        <p15:guide id="23" pos="4086">
          <p15:clr>
            <a:srgbClr val="A4A3A4"/>
          </p15:clr>
        </p15:guide>
        <p15:guide id="24" pos="4473">
          <p15:clr>
            <a:srgbClr val="A4A3A4"/>
          </p15:clr>
        </p15:guide>
        <p15:guide id="25" pos="4621">
          <p15:clr>
            <a:srgbClr val="A4A3A4"/>
          </p15:clr>
        </p15:guide>
        <p15:guide id="26" pos="5008">
          <p15:clr>
            <a:srgbClr val="A4A3A4"/>
          </p15:clr>
        </p15:guide>
        <p15:guide id="27" pos="5157">
          <p15:clr>
            <a:srgbClr val="A4A3A4"/>
          </p15:clr>
        </p15:guide>
        <p15:guide id="28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333333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77" autoAdjust="0"/>
    <p:restoredTop sz="86419" autoAdjust="0"/>
  </p:normalViewPr>
  <p:slideViewPr>
    <p:cSldViewPr snapToGrid="0">
      <p:cViewPr varScale="1">
        <p:scale>
          <a:sx n="148" d="100"/>
          <a:sy n="148" d="100"/>
        </p:scale>
        <p:origin x="132" y="144"/>
      </p:cViewPr>
      <p:guideLst>
        <p:guide orient="horz" pos="261"/>
        <p:guide pos="340"/>
        <p:guide orient="horz" pos="3028"/>
        <p:guide pos="5511"/>
        <p:guide orient="horz" pos="272"/>
        <p:guide orient="horz" pos="2971"/>
        <p:guide orient="horz" pos="930"/>
        <p:guide orient="horz" pos="1337"/>
        <p:guide orient="horz" pos="2086"/>
        <p:guide pos="2331"/>
        <p:guide pos="726"/>
        <p:guide pos="875"/>
        <p:guide pos="1260"/>
        <p:guide pos="1410"/>
        <p:guide pos="1796"/>
        <p:guide pos="1944"/>
        <p:guide pos="2481"/>
        <p:guide pos="2869"/>
        <p:guide pos="3029"/>
        <p:guide pos="3402"/>
        <p:guide pos="3552"/>
        <p:guide pos="3938"/>
        <p:guide pos="4086"/>
        <p:guide pos="4473"/>
        <p:guide pos="4621"/>
        <p:guide pos="5008"/>
        <p:guide pos="5157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72" d="100"/>
          <a:sy n="172" d="100"/>
        </p:scale>
        <p:origin x="6552" y="208"/>
      </p:cViewPr>
      <p:guideLst>
        <p:guide orient="horz" pos="2880"/>
        <p:guide pos="2160"/>
      </p:guideLst>
    </p:cSldViewPr>
  </p:notesViewPr>
  <p:gridSpacing cx="1080136" cy="108013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DCCD-FB14-4FA8-B1C2-D065E82645DF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D96E1-DF61-4A53-9932-3DFD8899BB9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54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84D8A-822D-488E-8D1C-8C90CBE022BE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70B7F-3432-4DBE-B821-B38A127FB2D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2022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39749" y="2122487"/>
            <a:ext cx="5711825" cy="1189037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 b="1">
                <a:solidFill>
                  <a:srgbClr val="404040"/>
                </a:solidFill>
                <a:latin typeface="+mn-lt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/>
              </a:rPr>
              <a:t>Тема презентации</a:t>
            </a: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3798267"/>
            <a:ext cx="5711825" cy="2846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ru-RU" dirty="0">
                <a:latin typeface="Arial" pitchFamily="34" charset="0"/>
                <a:cs typeface="Arial" pitchFamily="34" charset="0"/>
              </a:rPr>
              <a:t>Наименование мероприятия </a:t>
            </a:r>
            <a:r>
              <a:rPr lang="en-US" dirty="0">
                <a:latin typeface="Arial" pitchFamily="34" charset="0"/>
                <a:cs typeface="Arial" pitchFamily="34" charset="0"/>
              </a:rPr>
              <a:t>/</a:t>
            </a:r>
            <a:r>
              <a:rPr lang="ru-RU" dirty="0">
                <a:latin typeface="Arial" pitchFamily="34" charset="0"/>
                <a:cs typeface="Arial" pitchFamily="34" charset="0"/>
              </a:rPr>
              <a:t> название площадки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39749" y="4212000"/>
            <a:ext cx="5711825" cy="21848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333333"/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rPr>
              <a:t>ФИО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39749" y="4428000"/>
            <a:ext cx="5711825" cy="28468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rPr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8705562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карти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476376"/>
            <a:ext cx="4014788" cy="2465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itchFamily="34" charset="0"/>
              <a:buNone/>
              <a:defRPr sz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5"/>
          </p:nvPr>
        </p:nvSpPr>
        <p:spPr>
          <a:xfrm>
            <a:off x="4808538" y="1476375"/>
            <a:ext cx="3940175" cy="2456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>
                <a:latin typeface="Arial" pitchFamily="34" charset="0"/>
                <a:cs typeface="Arial" pitchFamily="34" charset="0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4"/>
          <p:cNvSpPr>
            <a:spLocks noGrp="1"/>
          </p:cNvSpPr>
          <p:nvPr>
            <p:ph type="chart" sz="quarter" idx="16"/>
          </p:nvPr>
        </p:nvSpPr>
        <p:spPr>
          <a:xfrm>
            <a:off x="539750" y="1476375"/>
            <a:ext cx="4014788" cy="1835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00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6" name="Chart Placeholder 4"/>
          <p:cNvSpPr>
            <a:spLocks noGrp="1"/>
          </p:cNvSpPr>
          <p:nvPr>
            <p:ph type="chart" sz="quarter" idx="17"/>
          </p:nvPr>
        </p:nvSpPr>
        <p:spPr>
          <a:xfrm>
            <a:off x="4808538" y="1476375"/>
            <a:ext cx="3940175" cy="1835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00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3482975"/>
            <a:ext cx="4014788" cy="76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sz="quarter" idx="19" hasCustomPrompt="1"/>
          </p:nvPr>
        </p:nvSpPr>
        <p:spPr>
          <a:xfrm>
            <a:off x="4808538" y="3479346"/>
            <a:ext cx="3940174" cy="76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4540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ы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8" hasCustomPrompt="1"/>
          </p:nvPr>
        </p:nvSpPr>
        <p:spPr>
          <a:xfrm>
            <a:off x="539750" y="1476375"/>
            <a:ext cx="4014788" cy="28013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7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ru-RU" dirty="0"/>
              <a:t>Контент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9" hasCustomPrompt="1"/>
          </p:nvPr>
        </p:nvSpPr>
        <p:spPr>
          <a:xfrm>
            <a:off x="4808539" y="1476375"/>
            <a:ext cx="3940174" cy="28013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7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ru-RU" dirty="0"/>
              <a:t>Контент</a:t>
            </a:r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7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4"/>
          <p:cNvSpPr>
            <a:spLocks noGrp="1"/>
          </p:cNvSpPr>
          <p:nvPr>
            <p:ph type="chart" sz="quarter" idx="17"/>
          </p:nvPr>
        </p:nvSpPr>
        <p:spPr>
          <a:xfrm>
            <a:off x="4808537" y="1476375"/>
            <a:ext cx="3940175" cy="25078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lang="en-US" sz="7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476375"/>
            <a:ext cx="4014788" cy="2458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charset="0"/>
              <a:buNone/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7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431800"/>
            <a:ext cx="816864" cy="104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1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351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0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320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Система распознавания документов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quarter" idx="11"/>
          </p:nvPr>
        </p:nvSpPr>
        <p:spPr>
          <a:xfrm>
            <a:off x="539749" y="3493116"/>
            <a:ext cx="5711825" cy="218486"/>
          </a:xfrm>
          <a:prstGeom prst="rect">
            <a:avLst/>
          </a:prstGeom>
        </p:spPr>
        <p:txBody>
          <a:bodyPr/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Муртазин Руслан </a:t>
            </a:r>
            <a:r>
              <a:rPr lang="ru-RU" b="1" dirty="0" err="1">
                <a:latin typeface="Arial" pitchFamily="34" charset="0"/>
                <a:cs typeface="Arial" pitchFamily="34" charset="0"/>
              </a:rPr>
              <a:t>Шамилевич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12"/>
          </p:nvPr>
        </p:nvSpPr>
        <p:spPr>
          <a:xfrm>
            <a:off x="539748" y="3893194"/>
            <a:ext cx="5711825" cy="284683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АО «КОНСИСТ-ОС»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+7 (996) 746 18 90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murtazin-rs@rosenergoatom.ru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1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3CA05-7546-4C34-AB87-920F15DC0EF1}"/>
              </a:ext>
            </a:extLst>
          </p:cNvPr>
          <p:cNvSpPr txBox="1"/>
          <p:nvPr/>
        </p:nvSpPr>
        <p:spPr>
          <a:xfrm>
            <a:off x="1757966" y="1481070"/>
            <a:ext cx="2814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Бизнесовая проблема, мое решение оптимизирует…</a:t>
            </a:r>
          </a:p>
        </p:txBody>
      </p:sp>
    </p:spTree>
    <p:extLst>
      <p:ext uri="{BB962C8B-B14F-4D97-AF65-F5344CB8AC3E}">
        <p14:creationId xmlns:p14="http://schemas.microsoft.com/office/powerpoint/2010/main" val="362614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400" dirty="0"/>
              <a:t>Проблема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653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Архитектура 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067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1 — </a:t>
            </a:r>
            <a:r>
              <a:rPr lang="en-US" sz="2400" dirty="0"/>
              <a:t>Layout Detection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9196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2 — </a:t>
            </a:r>
            <a:r>
              <a:rPr lang="en-US" sz="2400" dirty="0"/>
              <a:t>OCR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0285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2 — </a:t>
            </a:r>
            <a:r>
              <a:rPr lang="en-US" sz="2400" dirty="0"/>
              <a:t>OCR-</a:t>
            </a:r>
            <a:r>
              <a:rPr lang="ru-RU" sz="2400" dirty="0"/>
              <a:t>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15267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</a:t>
            </a:r>
            <a:r>
              <a:rPr lang="en-US" sz="2400" dirty="0"/>
              <a:t>3</a:t>
            </a:r>
            <a:r>
              <a:rPr lang="ru-RU" sz="2400" dirty="0"/>
              <a:t> — </a:t>
            </a:r>
            <a:r>
              <a:rPr lang="en-US" sz="2400" dirty="0"/>
              <a:t>NER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4544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Техническая 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25523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750" y="451118"/>
            <a:ext cx="6561138" cy="330200"/>
          </a:xfrm>
        </p:spPr>
        <p:txBody>
          <a:bodyPr/>
          <a:lstStyle/>
          <a:p>
            <a:r>
              <a:rPr lang="ru-RU" sz="2400" dirty="0"/>
              <a:t>Демонстрация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19639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400" dirty="0"/>
              <a:t>Перспективы развития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64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750" y="451118"/>
            <a:ext cx="6561138" cy="330200"/>
          </a:xfrm>
        </p:spPr>
        <p:txBody>
          <a:bodyPr/>
          <a:lstStyle/>
          <a:p>
            <a:r>
              <a:rPr lang="ru-RU" sz="2400" dirty="0"/>
              <a:t>Заключение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51B11-8E04-40F4-87BE-0C500E4B96E4}"/>
              </a:ext>
            </a:extLst>
          </p:cNvPr>
          <p:cNvSpPr txBox="1"/>
          <p:nvPr/>
        </p:nvSpPr>
        <p:spPr>
          <a:xfrm>
            <a:off x="1519707" y="2079938"/>
            <a:ext cx="4256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Мое решение оптимизировало … в … раз </a:t>
            </a:r>
            <a:r>
              <a:rPr lang="ru-RU"/>
              <a:t>и сэкономит </a:t>
            </a:r>
            <a:r>
              <a:rPr lang="ru-RU" dirty="0"/>
              <a:t>153805834 рублей.</a:t>
            </a:r>
          </a:p>
        </p:txBody>
      </p:sp>
    </p:spTree>
    <p:extLst>
      <p:ext uri="{BB962C8B-B14F-4D97-AF65-F5344CB8AC3E}">
        <p14:creationId xmlns:p14="http://schemas.microsoft.com/office/powerpoint/2010/main" val="467655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Система распознавания документов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quarter" idx="11"/>
          </p:nvPr>
        </p:nvSpPr>
        <p:spPr>
          <a:xfrm>
            <a:off x="539749" y="3493116"/>
            <a:ext cx="5711825" cy="218486"/>
          </a:xfrm>
          <a:prstGeom prst="rect">
            <a:avLst/>
          </a:prstGeom>
        </p:spPr>
        <p:txBody>
          <a:bodyPr/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Муртазин Руслан </a:t>
            </a:r>
            <a:r>
              <a:rPr lang="ru-RU" b="1" dirty="0" err="1">
                <a:latin typeface="Arial" pitchFamily="34" charset="0"/>
                <a:cs typeface="Arial" pitchFamily="34" charset="0"/>
              </a:rPr>
              <a:t>Шамилевич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12"/>
          </p:nvPr>
        </p:nvSpPr>
        <p:spPr>
          <a:xfrm>
            <a:off x="539748" y="3893194"/>
            <a:ext cx="5711825" cy="284683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АО «КОНСИСТ-ОС»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+7 (996) 746 18 90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murtazin-rs@rosenergoatom.ru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10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ый слайд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541B8C7B-4633-2E45-B746-A05B8E1543F8}"/>
    </a:ext>
  </a:extLst>
</a:theme>
</file>

<file path=ppt/theme/theme2.xml><?xml version="1.0" encoding="utf-8"?>
<a:theme xmlns:a="http://schemas.openxmlformats.org/drawingml/2006/main" name="Перебивочный слайд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6BE6B458-93C6-814D-A81B-47849E6A55A1}"/>
    </a:ext>
  </a:extLst>
</a:theme>
</file>

<file path=ppt/theme/theme3.xml><?xml version="1.0" encoding="utf-8"?>
<a:theme xmlns:a="http://schemas.openxmlformats.org/drawingml/2006/main" name="Текст картинк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4.xml><?xml version="1.0" encoding="utf-8"?>
<a:theme xmlns:a="http://schemas.openxmlformats.org/drawingml/2006/main" name="Текст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5.xml><?xml version="1.0" encoding="utf-8"?>
<a:theme xmlns:a="http://schemas.openxmlformats.org/drawingml/2006/main" name="Диаграммы">
  <a:themeElements>
    <a:clrScheme name="тема для слайдов с диаграммами">
      <a:dk1>
        <a:srgbClr val="414042"/>
      </a:dk1>
      <a:lt1>
        <a:sysClr val="window" lastClr="FFFFFF"/>
      </a:lt1>
      <a:dk2>
        <a:srgbClr val="FFFFFF"/>
      </a:dk2>
      <a:lt2>
        <a:srgbClr val="FFFFFF"/>
      </a:lt2>
      <a:accent1>
        <a:srgbClr val="293D6D"/>
      </a:accent1>
      <a:accent2>
        <a:srgbClr val="456EA9"/>
      </a:accent2>
      <a:accent3>
        <a:srgbClr val="68B0E0"/>
      </a:accent3>
      <a:accent4>
        <a:srgbClr val="ACC44D"/>
      </a:accent4>
      <a:accent5>
        <a:srgbClr val="4C9D8D"/>
      </a:accent5>
      <a:accent6>
        <a:srgbClr val="7F7F7F"/>
      </a:accent6>
      <a:hlink>
        <a:srgbClr val="414042"/>
      </a:hlink>
      <a:folHlink>
        <a:srgbClr val="41404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6.xml><?xml version="1.0" encoding="utf-8"?>
<a:theme xmlns:a="http://schemas.openxmlformats.org/drawingml/2006/main" name="Текст диаграмма">
  <a:themeElements>
    <a:clrScheme name="тема для слайдов текст-диаграмма">
      <a:dk1>
        <a:srgbClr val="414042"/>
      </a:dk1>
      <a:lt1>
        <a:sysClr val="window" lastClr="FFFFFF"/>
      </a:lt1>
      <a:dk2>
        <a:srgbClr val="FFFFFF"/>
      </a:dk2>
      <a:lt2>
        <a:srgbClr val="FFFFFF"/>
      </a:lt2>
      <a:accent1>
        <a:srgbClr val="EBA444"/>
      </a:accent1>
      <a:accent2>
        <a:srgbClr val="F06942"/>
      </a:accent2>
      <a:accent3>
        <a:srgbClr val="AD5483"/>
      </a:accent3>
      <a:accent4>
        <a:srgbClr val="456EA9"/>
      </a:accent4>
      <a:accent5>
        <a:srgbClr val="68B0E0"/>
      </a:accent5>
      <a:accent6>
        <a:srgbClr val="259789"/>
      </a:accent6>
      <a:hlink>
        <a:srgbClr val="414042"/>
      </a:hlink>
      <a:folHlink>
        <a:srgbClr val="41404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7.xml><?xml version="1.0" encoding="utf-8"?>
<a:theme xmlns:a="http://schemas.openxmlformats.org/drawingml/2006/main" name="Заключительный слайд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0DAE905-2894-9645-87E8-4A089C61D1E7}" vid="{BB001172-481D-5B4F-A54A-4F845D4C8301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Presentation_16x9_white_template</Template>
  <TotalTime>712</TotalTime>
  <Words>95</Words>
  <Application>Microsoft Office PowerPoint</Application>
  <PresentationFormat>Произвольный</PresentationFormat>
  <Paragraphs>25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Arial</vt:lpstr>
      <vt:lpstr>Calibri</vt:lpstr>
      <vt:lpstr>Титульный слайд</vt:lpstr>
      <vt:lpstr>Перебивочный слайд</vt:lpstr>
      <vt:lpstr>Текст картинка</vt:lpstr>
      <vt:lpstr>Текст</vt:lpstr>
      <vt:lpstr>Диаграммы</vt:lpstr>
      <vt:lpstr>Текст диаграмма</vt:lpstr>
      <vt:lpstr>Заключительный слайд</vt:lpstr>
      <vt:lpstr>Система распознавания документов</vt:lpstr>
      <vt:lpstr>Постановка задачи</vt:lpstr>
      <vt:lpstr>Проблема</vt:lpstr>
      <vt:lpstr>Архитектура системы</vt:lpstr>
      <vt:lpstr>Модуль 1 — Layout Detection</vt:lpstr>
      <vt:lpstr>Модуль 2 — OCR</vt:lpstr>
      <vt:lpstr>Модуль 2 — OCR-Решения</vt:lpstr>
      <vt:lpstr>Модуль 3 — NER</vt:lpstr>
      <vt:lpstr>Техническая реализация</vt:lpstr>
      <vt:lpstr>Демонстрация решения</vt:lpstr>
      <vt:lpstr>Перспективы развития</vt:lpstr>
      <vt:lpstr>Заключение</vt:lpstr>
      <vt:lpstr>Система распознавания документов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Анна Хомякова</dc:creator>
  <cp:lastModifiedBy>Руслан Муртазин</cp:lastModifiedBy>
  <cp:revision>124</cp:revision>
  <dcterms:created xsi:type="dcterms:W3CDTF">2019-09-24T12:37:05Z</dcterms:created>
  <dcterms:modified xsi:type="dcterms:W3CDTF">2026-03-25T10:25:07Z</dcterms:modified>
</cp:coreProperties>
</file>